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4C985-7313-4537-AD40-D2145C85419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E106E-20BA-4B49-ADC2-A9AFC0316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83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22E61E7E-633D-4AD6-82D8-9C9A9986E918}" type="datetime1">
              <a:rPr lang="en-US" smtClean="0"/>
              <a:t>9/11/2026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C9B2AD2A-6471-461C-9DEB-02E205D4FEB6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75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5F8E99-FEA8-4872-847D-50920A563C07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B2AD2A-6471-461C-9DEB-02E205D4FEB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865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E5BF62B-D13C-4B59-9707-C9B82EE5E2B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B2AD2A-6471-461C-9DEB-02E205D4FEB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82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C028BA-CF0B-4087-BD52-28EDBE0FEFA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B2AD2A-6471-461C-9DEB-02E205D4FEB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261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2D00ED5-9C63-4AC4-A3E0-C58219D6B721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B2AD2A-6471-461C-9DEB-02E205D4FEB6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062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72D5D2-F877-4DA4-9BA1-C0F068084A0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B2AD2A-6471-461C-9DEB-02E205D4FEB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266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4454CE3-BE5F-4443-A9F5-CFA861F13627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B2AD2A-6471-461C-9DEB-02E205D4FEB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94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5A9B68-22E2-4DAF-8A86-D938017C932D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B2AD2A-6471-461C-9DEB-02E205D4FEB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209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BE2F8D-E89C-496A-83A2-86A3D437FF3C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B2AD2A-6471-461C-9DEB-02E205D4FEB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805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F112B3A-B6EB-4698-9BEC-79C77206272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B2AD2A-6471-461C-9DEB-02E205D4FEB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752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B6AF7D5-4B94-45DD-BC38-87987635AA74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B2AD2A-6471-461C-9DEB-02E205D4FEB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19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D61021A1-922E-4909-A09D-0700F86B17CC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C9B2AD2A-6471-461C-9DEB-02E205D4FEB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726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6757D5D9-82B7-4B4E-9E4E-7FF0AA8CADDE}" type="datetime1">
              <a:rPr lang="en-US" smtClean="0"/>
              <a:t>9/11/2026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C9B2AD2A-6471-461C-9DEB-02E205D4FEB6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213352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83FB2-7E1D-C3E0-013B-FE6AB51587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Splunk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37BA6F-B371-4F17-A20A-37C502A290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Machine Data Analytics at Scale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41412-CA11-7C01-EDA7-B563CAC07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16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44F28-AFEB-8CEB-2823-2CB34C1E4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Splunk?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79E7E-6963-99C4-2C9B-3D8834E61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Splunk is a </a:t>
            </a:r>
            <a:r>
              <a:rPr lang="en-US" b="1" dirty="0"/>
              <a:t>data platform for machine-generated data</a:t>
            </a:r>
            <a:r>
              <a:rPr lang="en-US" dirty="0"/>
              <a:t>. </a:t>
            </a:r>
          </a:p>
          <a:p>
            <a:r>
              <a:rPr lang="en-US" dirty="0"/>
              <a:t>"Machine-generated data" means any data produced automatically by software systems: </a:t>
            </a:r>
          </a:p>
          <a:p>
            <a:pPr lvl="1"/>
            <a:r>
              <a:rPr lang="en-US" dirty="0"/>
              <a:t>application logs</a:t>
            </a:r>
          </a:p>
          <a:p>
            <a:pPr lvl="1"/>
            <a:r>
              <a:rPr lang="en-US" dirty="0"/>
              <a:t>server logs</a:t>
            </a:r>
          </a:p>
          <a:p>
            <a:pPr lvl="1"/>
            <a:r>
              <a:rPr lang="en-US" dirty="0"/>
              <a:t>network traffic records</a:t>
            </a:r>
          </a:p>
          <a:p>
            <a:pPr lvl="1"/>
            <a:r>
              <a:rPr lang="en-US" dirty="0"/>
              <a:t>database audit trails</a:t>
            </a:r>
          </a:p>
          <a:p>
            <a:pPr lvl="1"/>
            <a:r>
              <a:rPr lang="en-US" dirty="0"/>
              <a:t>container </a:t>
            </a:r>
            <a:r>
              <a:rPr lang="en-US" dirty="0" err="1"/>
              <a:t>stdout</a:t>
            </a:r>
            <a:r>
              <a:rPr lang="en-US" dirty="0"/>
              <a:t>/stderr streams</a:t>
            </a:r>
          </a:p>
          <a:p>
            <a:pPr lvl="1"/>
            <a:r>
              <a:rPr lang="en-US" dirty="0"/>
              <a:t>IoT sensor readings</a:t>
            </a:r>
          </a:p>
          <a:p>
            <a:pPr lvl="1"/>
            <a:r>
              <a:rPr lang="en-US" dirty="0"/>
              <a:t>security events.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FBBCC-8627-D09A-C43B-1A332DE20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08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A6759-481C-37E9-C0DC-BCC8EE0FE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Splunk?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AF546-F338-936E-4947-FEF984159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Collecting</a:t>
            </a:r>
            <a:r>
              <a:rPr lang="en-US" dirty="0"/>
              <a:t> logs from every source — servers, containers, applications, network devices — and centralizing them</a:t>
            </a:r>
          </a:p>
          <a:p>
            <a:pPr lvl="0"/>
            <a:r>
              <a:rPr lang="en-US" b="1" dirty="0"/>
              <a:t>Indexing</a:t>
            </a:r>
            <a:r>
              <a:rPr lang="en-US" dirty="0"/>
              <a:t> that data so you can search billions of events in seconds</a:t>
            </a:r>
          </a:p>
          <a:p>
            <a:pPr lvl="0"/>
            <a:r>
              <a:rPr lang="en-US" b="1" dirty="0"/>
              <a:t>Visualizing</a:t>
            </a:r>
            <a:r>
              <a:rPr lang="en-US" dirty="0"/>
              <a:t> patterns through dashboards and charts</a:t>
            </a:r>
          </a:p>
          <a:p>
            <a:pPr lvl="0"/>
            <a:r>
              <a:rPr lang="en-US" b="1" dirty="0"/>
              <a:t>Alerting</a:t>
            </a:r>
            <a:r>
              <a:rPr lang="en-US" dirty="0"/>
              <a:t> when thresholds or anomalies are detected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2FB19-8349-B0EA-153F-0182B5EEC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851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03BE9-B8C7-7B07-E0A6-E99287E53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Splunk Architecture Overview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D365F5F-7F11-66FB-7554-2C43F82738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59198" y="1719263"/>
            <a:ext cx="4073603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E8285-E274-F5E4-05AB-30573C34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43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45936-ADE8-AC3E-1AA7-BB9306B5E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Splunk Enterprise vs Splunk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F4836-E87A-D478-84F1-0905269ED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Splunk Enterprise</a:t>
            </a:r>
          </a:p>
          <a:p>
            <a:r>
              <a:rPr lang="en-US" sz="2000" dirty="0"/>
              <a:t>Splunk software that you download, install, and manage on your own infrastructure — on-premises servers, your own cloud VMs, or a hybrid of both.</a:t>
            </a:r>
          </a:p>
          <a:p>
            <a:r>
              <a:rPr lang="en-US" sz="2000" b="1" dirty="0"/>
              <a:t>Who manages it:</a:t>
            </a:r>
            <a:r>
              <a:rPr lang="en-US" sz="2000" dirty="0"/>
              <a:t> Your team (or your company's operations team) is responsible for installation, upgrades, scaling, backup, and disaster recovery.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Splunk Cloud Platform</a:t>
            </a:r>
          </a:p>
          <a:p>
            <a:r>
              <a:rPr lang="en-US" sz="2000" dirty="0"/>
              <a:t>Splunk delivered as a fully managed Software-as-a-Service (SaaS). Splunk, Inc. runs the infrastructure; you send data and use the interface.</a:t>
            </a:r>
          </a:p>
          <a:p>
            <a:r>
              <a:rPr lang="en-US" sz="2000" b="1" dirty="0"/>
              <a:t>Who manages it:</a:t>
            </a:r>
            <a:r>
              <a:rPr lang="en-US" sz="2000" dirty="0"/>
              <a:t> Splunk manages the backend infrastructure, upgrades, scaling, and availability. You manage your data inputs, searches, dashboards, and users.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6AE37-93FC-D120-7E06-BE33AD87A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728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0E3B6F-5664-38A9-50A6-F673CBDC6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The Three Pillars of Splunk Use Cases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80EDB1-40D4-F195-6844-1AE1679C5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4F6B0-B0C1-6C79-253A-38C7EAA44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47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FE44B9-07DA-4813-46BB-D15915925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Pillar 1: IT Operations and Application Monitoring (AIOps/Observability)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83A3A-46B3-6BB0-EAF3-5F03D5D6B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This is where most development teams first encounter Splunk. You are building and running applications, and you need visibility into their behavior.</a:t>
            </a:r>
          </a:p>
          <a:p>
            <a:r>
              <a:rPr lang="en-US" sz="2000" b="1" dirty="0"/>
              <a:t>What it looks like in practice:</a:t>
            </a:r>
            <a:endParaRPr lang="en-US" sz="2000" dirty="0"/>
          </a:p>
          <a:p>
            <a:pPr lvl="1"/>
            <a:r>
              <a:rPr lang="en-US" sz="1800" dirty="0"/>
              <a:t>Your Spring Boot API is deployed in a Docker container on ECS. During peak hours, response times spike. With Splunk, you can:</a:t>
            </a:r>
          </a:p>
          <a:p>
            <a:pPr lvl="1"/>
            <a:r>
              <a:rPr lang="en-US" sz="1800" dirty="0"/>
              <a:t>Search application logs for slow queries, stack traces, and error messages</a:t>
            </a:r>
          </a:p>
          <a:p>
            <a:pPr lvl="1"/>
            <a:r>
              <a:rPr lang="en-US" sz="1800" dirty="0"/>
              <a:t>Build a dashboard showing request rates, error rates, and latency percentiles over time</a:t>
            </a:r>
          </a:p>
          <a:p>
            <a:pPr lvl="1"/>
            <a:r>
              <a:rPr lang="en-US" sz="1800" dirty="0"/>
              <a:t>Set an alert that notifies your on-call engineer when the error rate exceeds 1% of requests</a:t>
            </a:r>
          </a:p>
          <a:p>
            <a:pPr lvl="1"/>
            <a:r>
              <a:rPr lang="en-US" sz="1800" dirty="0"/>
              <a:t>Correlate application errors with infrastructure events (did a memory spike precede the errors?)</a:t>
            </a:r>
          </a:p>
          <a:p>
            <a:r>
              <a:rPr lang="en-US" sz="2000" b="1" dirty="0"/>
              <a:t>Key metrics and signals monitored:</a:t>
            </a:r>
            <a:endParaRPr lang="en-US" sz="2000" dirty="0"/>
          </a:p>
          <a:p>
            <a:pPr lvl="1"/>
            <a:r>
              <a:rPr lang="en-US" sz="1800" dirty="0"/>
              <a:t>Application error logs (exceptions, stack traces)</a:t>
            </a:r>
          </a:p>
          <a:p>
            <a:pPr lvl="1"/>
            <a:r>
              <a:rPr lang="en-US" sz="1800" dirty="0"/>
              <a:t>Request latency (how long requests take)</a:t>
            </a:r>
          </a:p>
          <a:p>
            <a:pPr lvl="1"/>
            <a:r>
              <a:rPr lang="en-US" sz="1800" dirty="0"/>
              <a:t>Throughput (requests per second)</a:t>
            </a:r>
          </a:p>
          <a:p>
            <a:pPr lvl="1"/>
            <a:r>
              <a:rPr lang="en-US" sz="1800" dirty="0"/>
              <a:t>Availability (is the service up?)</a:t>
            </a:r>
          </a:p>
          <a:p>
            <a:pPr lvl="1"/>
            <a:r>
              <a:rPr lang="en-US" sz="1800" dirty="0"/>
              <a:t>Infrastructure metrics (CPU, memory, disk I/O)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EFD2E-4C2F-1D41-2DB2-594712D7B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481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2350D-5781-7199-291B-9BDC26B0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Pillar 2: Security Information and Event Management (SIEM)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14687-A3A2-8C63-3AEF-9CD4688E0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Security teams use Splunk as their command center for detecting threats, investigating incidents, and meeting compliance requirements.</a:t>
            </a:r>
          </a:p>
          <a:p>
            <a:r>
              <a:rPr lang="en-US" sz="2000" b="1" dirty="0"/>
              <a:t>What it looks like in practice:</a:t>
            </a:r>
            <a:endParaRPr lang="en-US" sz="2000" dirty="0"/>
          </a:p>
          <a:p>
            <a:pPr lvl="1"/>
            <a:r>
              <a:rPr lang="en-US" sz="1800" dirty="0"/>
              <a:t>Your application is receiving authentication requests. Splunk can:</a:t>
            </a:r>
          </a:p>
          <a:p>
            <a:pPr lvl="1"/>
            <a:r>
              <a:rPr lang="en-US" sz="1800" dirty="0"/>
              <a:t>Detect brute-force attacks (hundreds of failed logins from the same IP in a short time)</a:t>
            </a:r>
          </a:p>
          <a:p>
            <a:pPr lvl="1"/>
            <a:r>
              <a:rPr lang="en-US" sz="1800" dirty="0"/>
              <a:t>Track privileged user activity (who accessed sensitive data, when, and from where)</a:t>
            </a:r>
          </a:p>
          <a:p>
            <a:pPr lvl="1"/>
            <a:r>
              <a:rPr lang="en-US" sz="1800" dirty="0"/>
              <a:t>Correlate events across systems (failed login followed by a successful login from a different geography)</a:t>
            </a:r>
          </a:p>
          <a:p>
            <a:pPr lvl="1"/>
            <a:r>
              <a:rPr lang="en-US" sz="1800" dirty="0"/>
              <a:t>Generate compliance reports (who accessed what data over the past 90 days)</a:t>
            </a:r>
          </a:p>
          <a:p>
            <a:r>
              <a:rPr lang="en-US" sz="2000" b="1" dirty="0"/>
              <a:t>Splunk's security product line includes:</a:t>
            </a:r>
            <a:endParaRPr lang="en-US" sz="2000" dirty="0"/>
          </a:p>
          <a:p>
            <a:pPr lvl="0"/>
            <a:r>
              <a:rPr lang="en-US" sz="2000" b="1" dirty="0"/>
              <a:t>Splunk Enterprise Security (ES):</a:t>
            </a:r>
            <a:r>
              <a:rPr lang="en-US" sz="2000" dirty="0"/>
              <a:t> A premium app providing pre-built correlation rules, dashboards, and workflows for security operations centers (SOCs)</a:t>
            </a:r>
          </a:p>
          <a:p>
            <a:pPr lvl="0"/>
            <a:r>
              <a:rPr lang="en-US" sz="2000" b="1" dirty="0"/>
              <a:t>Splunk SOAR (Security Orchestration, Automation and Response):</a:t>
            </a:r>
            <a:r>
              <a:rPr lang="en-US" sz="2000" dirty="0"/>
              <a:t> Automates response actions (block an IP, disable an account, create a ticket) when threats are detected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962A2-D917-96CB-6E78-48E7359C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22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BDB58-2039-D231-0922-F7D4EBD10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Pillar 3: Business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37722-90DB-AAC4-974E-EBB60D61E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Beyond IT and security, Splunk can answer business questions using operational data.</a:t>
            </a:r>
          </a:p>
          <a:p>
            <a:r>
              <a:rPr lang="en-US" sz="2000" b="1" dirty="0"/>
              <a:t>What it looks like in practice:</a:t>
            </a:r>
            <a:endParaRPr lang="en-US" sz="2000" dirty="0"/>
          </a:p>
          <a:p>
            <a:pPr lvl="1"/>
            <a:r>
              <a:rPr lang="en-US" sz="1800" dirty="0"/>
              <a:t>An e-commerce company uses Splunk to track:</a:t>
            </a:r>
          </a:p>
          <a:p>
            <a:pPr lvl="1"/>
            <a:r>
              <a:rPr lang="en-US" sz="1800" dirty="0"/>
              <a:t>Which product pages have the highest abandon rates</a:t>
            </a:r>
          </a:p>
          <a:p>
            <a:pPr lvl="1"/>
            <a:r>
              <a:rPr lang="en-US" sz="1800" dirty="0"/>
              <a:t>How purchase completion rates correlate with page load times</a:t>
            </a:r>
          </a:p>
          <a:p>
            <a:pPr lvl="1"/>
            <a:r>
              <a:rPr lang="en-US" sz="1800" dirty="0"/>
              <a:t>Whether a marketing campaign drove measurable increases in checkout conversions</a:t>
            </a:r>
          </a:p>
          <a:p>
            <a:pPr lvl="1"/>
            <a:r>
              <a:rPr lang="en-US" sz="1800" dirty="0"/>
              <a:t>Geographic distribution of orders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5669D-BF11-C042-8728-0B90B9479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54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848B3-10C2-99EE-FA61-5357F1A61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Observability in Cloud-Native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ECA25-B732-0580-87D2-681EC4750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term </a:t>
            </a:r>
            <a:r>
              <a:rPr lang="en-US" sz="2400" b="1" dirty="0"/>
              <a:t>observability</a:t>
            </a:r>
            <a:r>
              <a:rPr lang="en-US" sz="2400" dirty="0"/>
              <a:t> comes from control theory and means: can you understand the internal state of a system by examining its external outputs? In software, those outputs are:</a:t>
            </a:r>
          </a:p>
          <a:p>
            <a:pPr lvl="0"/>
            <a:r>
              <a:rPr lang="en-US" sz="2400" b="1" dirty="0"/>
              <a:t>Logs:</a:t>
            </a:r>
            <a:r>
              <a:rPr lang="en-US" sz="2400" dirty="0"/>
              <a:t> Structured or unstructured text records of events ("2024-01-15 14:23:01 ERROR </a:t>
            </a:r>
            <a:r>
              <a:rPr lang="en-US" sz="2400" dirty="0" err="1"/>
              <a:t>DatabaseConnectionException</a:t>
            </a:r>
            <a:r>
              <a:rPr lang="en-US" sz="2400" dirty="0"/>
              <a:t>: Connection timed out")</a:t>
            </a:r>
          </a:p>
          <a:p>
            <a:pPr lvl="0"/>
            <a:r>
              <a:rPr lang="en-US" sz="2400" b="1" dirty="0"/>
              <a:t>Metrics:</a:t>
            </a:r>
            <a:r>
              <a:rPr lang="en-US" sz="2400" dirty="0"/>
              <a:t> Numerical measurements over time (CPU at 87%, 342 requests/second, heap memory at 2.1 GB)</a:t>
            </a:r>
          </a:p>
          <a:p>
            <a:pPr lvl="0"/>
            <a:r>
              <a:rPr lang="en-US" sz="2400" b="1" dirty="0"/>
              <a:t>Traces:</a:t>
            </a:r>
            <a:r>
              <a:rPr lang="en-US" sz="2400" dirty="0"/>
              <a:t> Records of a single request's journey through multiple services (the request hit the API gateway, went to the user service, called the database, returned in 450ms)</a:t>
            </a:r>
          </a:p>
          <a:p>
            <a:r>
              <a:rPr lang="en-US" sz="2400" dirty="0"/>
              <a:t>These three are known as the </a:t>
            </a:r>
            <a:r>
              <a:rPr lang="en-US" sz="2400" b="1" dirty="0"/>
              <a:t>three pillars of observability</a:t>
            </a:r>
            <a:r>
              <a:rPr lang="en-US" sz="2400" dirty="0"/>
              <a:t>. Splunk addresses all three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001B0-7F57-4A43-3D1D-106EE5E3F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319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770CFA-11AB-62B8-0877-AA9538FF0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Splunk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375F0E4-C5A9-5B33-B3CF-E2161D847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6C57D-44C3-EEDB-38A6-C3783333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98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58C634-C7AF-83A4-D0E0-2EED198BE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Splunk Web Interface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11FA21-73B2-A1A4-1A06-C89B404AC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494CF-5F92-5560-8CD4-CB3081E3C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65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66ECA-3E87-C6AB-9245-9BFBCC892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The Index: Splunk's Data Organization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A728F-A280-4427-21D8-48CCF6AD8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An index is Splunk's primary data storage unit. It is analogous to a database in a relational system — a named repository where events are stored. When Splunk receives data, it parses the raw text into discrete events, extracts fields, and stores them in an index.</a:t>
            </a:r>
          </a:p>
          <a:p>
            <a:r>
              <a:rPr lang="en-US" sz="2400" dirty="0"/>
              <a:t>Key characteristics of an index:</a:t>
            </a:r>
          </a:p>
          <a:p>
            <a:pPr lvl="1"/>
            <a:r>
              <a:rPr lang="en-US" sz="2000" b="1" dirty="0"/>
              <a:t>Data lives in indexes permanently</a:t>
            </a:r>
            <a:r>
              <a:rPr lang="en-US" sz="2000" dirty="0"/>
              <a:t> (until a retention policy expires it)</a:t>
            </a:r>
          </a:p>
          <a:p>
            <a:pPr lvl="1"/>
            <a:r>
              <a:rPr lang="en-US" sz="2000" b="1" dirty="0"/>
              <a:t>Indexes are searched by name</a:t>
            </a:r>
            <a:r>
              <a:rPr lang="en-US" sz="2000" dirty="0"/>
              <a:t> — you can restrict a search to one or more indexes</a:t>
            </a:r>
          </a:p>
          <a:p>
            <a:pPr lvl="1"/>
            <a:r>
              <a:rPr lang="en-US" sz="2000" b="1" dirty="0"/>
              <a:t>Indexes have retention settings</a:t>
            </a:r>
            <a:r>
              <a:rPr lang="en-US" sz="2000" dirty="0"/>
              <a:t> — how many days or gigabytes of data to keep before the oldest data is deleted</a:t>
            </a:r>
          </a:p>
          <a:p>
            <a:pPr lvl="1"/>
            <a:r>
              <a:rPr lang="en-US" sz="2000" b="1" dirty="0"/>
              <a:t>Indexes have access controls</a:t>
            </a:r>
            <a:r>
              <a:rPr lang="en-US" sz="2000" dirty="0"/>
              <a:t> — certain users or roles may only be able to read specific indexes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8DA4E-6F91-CB2B-0BED-45C010866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10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8F56C-28EC-5C2E-0B33-B783AD028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Indexes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49E7B-9869-44BB-AC52-8E712B414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9263"/>
            <a:ext cx="10972800" cy="3492817"/>
          </a:xfrm>
        </p:spPr>
        <p:txBody>
          <a:bodyPr/>
          <a:lstStyle/>
          <a:p>
            <a:r>
              <a:rPr lang="en-US" dirty="0"/>
              <a:t>Splunk ships with several built-in indexes: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3D90C-872D-6911-0ACB-9943194A2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2BE8001-D09E-AD3D-70B5-F7FBE6389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433818"/>
              </p:ext>
            </p:extLst>
          </p:nvPr>
        </p:nvGraphicFramePr>
        <p:xfrm>
          <a:off x="682752" y="2251742"/>
          <a:ext cx="10972800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0488">
                  <a:extLst>
                    <a:ext uri="{9D8B030D-6E8A-4147-A177-3AD203B41FA5}">
                      <a16:colId xmlns:a16="http://schemas.microsoft.com/office/drawing/2014/main" val="2961659821"/>
                    </a:ext>
                  </a:extLst>
                </a:gridCol>
                <a:gridCol w="8592312">
                  <a:extLst>
                    <a:ext uri="{9D8B030D-6E8A-4147-A177-3AD203B41FA5}">
                      <a16:colId xmlns:a16="http://schemas.microsoft.com/office/drawing/2014/main" val="33139575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Index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8372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default index — data goes here if no index is specified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6174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_internal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Splunk's own operational logs (search activity, indexer performance, forwarder connections)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208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_audit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Audit trail of Splunk user 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758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Search 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56823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35334F1-D3E3-FC6E-ED98-9A15A94EA9E8}"/>
              </a:ext>
            </a:extLst>
          </p:cNvPr>
          <p:cNvSpPr txBox="1"/>
          <p:nvPr/>
        </p:nvSpPr>
        <p:spPr>
          <a:xfrm>
            <a:off x="609600" y="4637776"/>
            <a:ext cx="104546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Rather than dumping all data into </a:t>
            </a:r>
            <a:r>
              <a:rPr lang="en-US" b="1" dirty="0">
                <a:latin typeface="Arial" panose="020B0604020202020204" pitchFamily="34" charset="0"/>
              </a:rPr>
              <a:t>main</a:t>
            </a:r>
            <a:r>
              <a:rPr lang="en-US" b="1" dirty="0"/>
              <a:t>, most organizations create dedicated indexes:</a:t>
            </a:r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</a:rPr>
              <a:t>index=</a:t>
            </a:r>
            <a:r>
              <a:rPr lang="en-US" dirty="0" err="1">
                <a:latin typeface="Arial" panose="020B0604020202020204" pitchFamily="34" charset="0"/>
              </a:rPr>
              <a:t>prod_payments</a:t>
            </a:r>
            <a:r>
              <a:rPr lang="en-US" dirty="0">
                <a:latin typeface="Arial" panose="020B0604020202020204" pitchFamily="34" charset="0"/>
              </a:rPr>
              <a:t>       # Payment service logs</a:t>
            </a:r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</a:rPr>
              <a:t>index=</a:t>
            </a:r>
            <a:r>
              <a:rPr lang="en-US" dirty="0" err="1">
                <a:latin typeface="Arial" panose="020B0604020202020204" pitchFamily="34" charset="0"/>
              </a:rPr>
              <a:t>prod_auth</a:t>
            </a:r>
            <a:r>
              <a:rPr lang="en-US" dirty="0">
                <a:latin typeface="Arial" panose="020B0604020202020204" pitchFamily="34" charset="0"/>
              </a:rPr>
              <a:t>           # Authentication service logs  </a:t>
            </a:r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</a:rPr>
              <a:t>index=</a:t>
            </a:r>
            <a:r>
              <a:rPr lang="en-US" dirty="0" err="1">
                <a:latin typeface="Arial" panose="020B0604020202020204" pitchFamily="34" charset="0"/>
              </a:rPr>
              <a:t>prod_api_gateway</a:t>
            </a:r>
            <a:r>
              <a:rPr lang="en-US" dirty="0">
                <a:latin typeface="Arial" panose="020B0604020202020204" pitchFamily="34" charset="0"/>
              </a:rPr>
              <a:t>    # API gateway access logs</a:t>
            </a:r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</a:rPr>
              <a:t>index=</a:t>
            </a:r>
            <a:r>
              <a:rPr lang="en-US" dirty="0" err="1">
                <a:latin typeface="Arial" panose="020B0604020202020204" pitchFamily="34" charset="0"/>
              </a:rPr>
              <a:t>staging_all</a:t>
            </a:r>
            <a:r>
              <a:rPr lang="en-US" dirty="0">
                <a:latin typeface="Arial" panose="020B0604020202020204" pitchFamily="34" charset="0"/>
              </a:rPr>
              <a:t>         # All staging environment logs</a:t>
            </a:r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</a:rPr>
              <a:t>index=</a:t>
            </a:r>
            <a:r>
              <a:rPr lang="en-US" dirty="0" err="1">
                <a:latin typeface="Arial" panose="020B0604020202020204" pitchFamily="34" charset="0"/>
              </a:rPr>
              <a:t>security_events</a:t>
            </a:r>
            <a:r>
              <a:rPr lang="en-US" dirty="0">
                <a:latin typeface="Arial" panose="020B0604020202020204" pitchFamily="34" charset="0"/>
              </a:rPr>
              <a:t>     # Security-relevant events</a:t>
            </a:r>
            <a:endParaRPr 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151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3ADB6-6D43-721C-D7A4-645705A86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Across Indexes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8FC1F-9BC7-A69C-0F5A-6BEACEA6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a single index</a:t>
            </a:r>
            <a:br>
              <a:rPr lang="en-US" dirty="0"/>
            </a:br>
            <a:r>
              <a:rPr lang="en-US" dirty="0"/>
              <a:t>index=</a:t>
            </a:r>
            <a:r>
              <a:rPr lang="en-US" dirty="0" err="1"/>
              <a:t>prod_api_gateway</a:t>
            </a:r>
            <a:endParaRPr lang="en-US" dirty="0"/>
          </a:p>
          <a:p>
            <a:r>
              <a:rPr lang="en-US" dirty="0"/>
              <a:t>Search multiple indexes</a:t>
            </a:r>
            <a:br>
              <a:rPr lang="en-US" dirty="0"/>
            </a:br>
            <a:r>
              <a:rPr lang="en-US" dirty="0"/>
              <a:t>index=</a:t>
            </a:r>
            <a:r>
              <a:rPr lang="en-US" dirty="0" err="1"/>
              <a:t>prod_payments</a:t>
            </a:r>
            <a:r>
              <a:rPr lang="en-US" dirty="0"/>
              <a:t> OR index=</a:t>
            </a:r>
            <a:r>
              <a:rPr lang="en-US" dirty="0" err="1"/>
              <a:t>prod_auth</a:t>
            </a:r>
            <a:endParaRPr lang="en-US" dirty="0"/>
          </a:p>
          <a:p>
            <a:r>
              <a:rPr lang="en-US" dirty="0"/>
              <a:t>Search all indexes (avoid in production -- very slow and expensive)</a:t>
            </a:r>
            <a:br>
              <a:rPr lang="en-US" dirty="0"/>
            </a:br>
            <a:r>
              <a:rPr lang="en-US" dirty="0"/>
              <a:t>index=*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DCA28-AF53-C44D-CCBE-84BCD14AF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912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4DF5E-C8C1-2714-B58D-03CC9D66C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Inputs: Getting Data Into Splunk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635DF-232C-3409-6314-F5B249FA3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Splunk supports multiple mechanisms for ingesting data. The right choice depends on where your data lives and how it is generated.</a:t>
            </a:r>
          </a:p>
          <a:p>
            <a:r>
              <a:rPr lang="en-US" sz="2400" b="1" dirty="0"/>
              <a:t>File and Directory Monitoring : </a:t>
            </a:r>
            <a:r>
              <a:rPr lang="en-US" sz="2400" dirty="0"/>
              <a:t>Splunk can watch a file or directory on the local filesystem and continuously read new content as it is appended.</a:t>
            </a:r>
            <a:endParaRPr lang="en-US" sz="2400" b="1" dirty="0"/>
          </a:p>
          <a:p>
            <a:r>
              <a:rPr lang="en-US" sz="2400" b="1" dirty="0"/>
              <a:t>HTTP Event Collector (HEC) : </a:t>
            </a:r>
            <a:r>
              <a:rPr lang="en-US" sz="2400" dirty="0"/>
              <a:t>HEC allows applications to send events directly to Splunk over HTTP or HTTPS, using a simple REST API with </a:t>
            </a:r>
            <a:br>
              <a:rPr lang="en-US" sz="2400" dirty="0"/>
            </a:br>
            <a:r>
              <a:rPr lang="en-US" sz="2400" dirty="0"/>
              <a:t>JSON payloads.</a:t>
            </a:r>
            <a:endParaRPr lang="en-US" sz="2400" b="1" dirty="0"/>
          </a:p>
          <a:p>
            <a:r>
              <a:rPr lang="en-US" sz="2400" b="1" dirty="0"/>
              <a:t>Splunk Forwarders : </a:t>
            </a:r>
            <a:r>
              <a:rPr lang="en-US" sz="2400" dirty="0"/>
              <a:t>A Splunk Forwarder is a lightweight Splunk agent installed on a server, VM, or container. It monitors local files and system metrics, then ships the data to a Splunk indexer over an encrypted </a:t>
            </a:r>
            <a:br>
              <a:rPr lang="en-US" sz="2400" dirty="0"/>
            </a:br>
            <a:r>
              <a:rPr lang="en-US" sz="2400" dirty="0"/>
              <a:t>TCP connection.</a:t>
            </a:r>
            <a:endParaRPr lang="en-US" sz="2400" b="1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21EC8-619F-8CCD-2DB6-348B52C8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45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5AAF76-3C63-9C56-C51E-C1A5C42A2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Search in Splunk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1DA3EA2-C196-61BC-990A-6F7FC26E4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is the primary interface between you and your data in Splunk.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8CCBF-1F2D-A498-C3D4-D6E0DD5F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536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12314F-F082-5EB3-8086-49D61F810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Search &amp; Reporting App Interface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CB44EE-F05D-97F7-C2D6-2DF538A54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The Search Bar : </a:t>
            </a:r>
            <a:r>
              <a:rPr lang="en-US" sz="2400" dirty="0"/>
              <a:t>The search bar is the most prominent element — a wide text field at the top of the page. This is where you type SPL (Search Processing Language) queries.</a:t>
            </a:r>
          </a:p>
          <a:p>
            <a:r>
              <a:rPr lang="en-US" sz="2400" b="1" dirty="0"/>
              <a:t>The Time Range Picker : </a:t>
            </a:r>
            <a:r>
              <a:rPr lang="en-US" sz="2400" dirty="0"/>
              <a:t>Located immediately to the right of the search bar, the time range picker controls which time window your search covers.</a:t>
            </a:r>
          </a:p>
          <a:p>
            <a:r>
              <a:rPr lang="en-US" sz="2400" b="1" dirty="0"/>
              <a:t>The Event Timeline : </a:t>
            </a:r>
            <a:r>
              <a:rPr lang="en-US" sz="2400" dirty="0"/>
              <a:t>Below the search bar and time picker, after a search runs, you see a bar chart called the </a:t>
            </a:r>
            <a:r>
              <a:rPr lang="en-US" sz="2400" b="1" dirty="0"/>
              <a:t>event timeline</a:t>
            </a:r>
            <a:r>
              <a:rPr lang="en-US" sz="2400" dirty="0"/>
              <a:t> (also called the timeline histogram).</a:t>
            </a:r>
          </a:p>
          <a:p>
            <a:r>
              <a:rPr lang="en-US" sz="2400" b="1" dirty="0"/>
              <a:t>The Fields Sidebar : </a:t>
            </a:r>
            <a:r>
              <a:rPr lang="en-US" sz="2400" dirty="0"/>
              <a:t>To the left of the event results (or accessible via a sidebar toggle), the </a:t>
            </a:r>
            <a:r>
              <a:rPr lang="en-US" sz="2400" b="1" dirty="0"/>
              <a:t>fields sidebar</a:t>
            </a:r>
            <a:r>
              <a:rPr lang="en-US" sz="2400" dirty="0"/>
              <a:t> shows every field Splunk has extracted from your search results.</a:t>
            </a:r>
          </a:p>
          <a:p>
            <a:r>
              <a:rPr lang="en-US" sz="2400" b="1" dirty="0"/>
              <a:t>Raw vs Table View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E3438-F4DD-B65E-78FB-2E1C00CD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638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941F2-AFDD-45D3-A322-239C8689B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Types: Keyword vs Field-Value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110AF-6D3A-F729-63A5-197BA5F30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Keyword Search : </a:t>
            </a:r>
            <a:r>
              <a:rPr lang="en-US" sz="2400" dirty="0"/>
              <a:t>The simplest form of Splunk search is a free-text keyword search — you type a word or phrase and Splunk returns all events containing that text anywhere in the raw event.</a:t>
            </a:r>
          </a:p>
          <a:p>
            <a:pPr marL="0" indent="0">
              <a:buNone/>
            </a:pPr>
            <a:r>
              <a:rPr lang="en-US" sz="2400" dirty="0"/>
              <a:t>		</a:t>
            </a:r>
            <a:r>
              <a:rPr lang="en-US" sz="2400" b="1" dirty="0">
                <a:highlight>
                  <a:srgbClr val="FFFF00"/>
                </a:highlight>
              </a:rPr>
              <a:t>error</a:t>
            </a:r>
          </a:p>
          <a:p>
            <a:r>
              <a:rPr lang="en-US" sz="2400" b="1" dirty="0"/>
              <a:t>Field-Value Search : </a:t>
            </a:r>
            <a:r>
              <a:rPr lang="en-US" sz="2400" dirty="0"/>
              <a:t>Field-value searches use the field=value syntax to search specific extracted fields. This is more precise and generally faster than keyword search.</a:t>
            </a:r>
          </a:p>
          <a:p>
            <a:pPr marL="0" indent="0">
              <a:buNone/>
            </a:pPr>
            <a:r>
              <a:rPr lang="en-US" sz="2400" dirty="0"/>
              <a:t>		</a:t>
            </a:r>
            <a:r>
              <a:rPr lang="en-US" sz="2400" b="1" dirty="0">
                <a:highlight>
                  <a:srgbClr val="FFFF00"/>
                </a:highlight>
              </a:rPr>
              <a:t>status=500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EEC69-C2D5-627A-3EEB-BFE527875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29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9CDF7-2F5C-47E5-FAAA-626825A6B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Combining Keyword and Field-Value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E88D6-A440-0325-33A1-683C49250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freely mix keyword and field-value search in the same query:</a:t>
            </a:r>
          </a:p>
          <a:p>
            <a:pPr marL="0" indent="0">
              <a:buNone/>
            </a:pPr>
            <a:r>
              <a:rPr lang="en-US" dirty="0"/>
              <a:t>Example : Search the </a:t>
            </a:r>
            <a:r>
              <a:rPr lang="en-US" dirty="0" err="1"/>
              <a:t>prod_payments</a:t>
            </a:r>
            <a:r>
              <a:rPr lang="en-US" dirty="0"/>
              <a:t> index for ERROR-level events that also contain the phrase "database connection" anywhere in the raw text.</a:t>
            </a:r>
            <a:br>
              <a:rPr lang="en-US" dirty="0"/>
            </a:br>
            <a:r>
              <a:rPr lang="en-US" sz="2800" b="1" dirty="0"/>
              <a:t>index=</a:t>
            </a:r>
            <a:r>
              <a:rPr lang="en-US" sz="2800" b="1" dirty="0" err="1"/>
              <a:t>prod_payments</a:t>
            </a:r>
            <a:r>
              <a:rPr lang="en-US" sz="2800" b="1" dirty="0"/>
              <a:t> level=ERROR "database connection"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D8019-D579-6C4B-B1DB-0E518E23C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67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93FFA-3AAC-EF2F-C315-93010CE42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Modes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531B3D7-6BD5-2B95-320A-8A9986293E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8985500"/>
              </p:ext>
            </p:extLst>
          </p:nvPr>
        </p:nvGraphicFramePr>
        <p:xfrm>
          <a:off x="609600" y="1719263"/>
          <a:ext cx="10058400" cy="49526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5584">
                  <a:extLst>
                    <a:ext uri="{9D8B030D-6E8A-4147-A177-3AD203B41FA5}">
                      <a16:colId xmlns:a16="http://schemas.microsoft.com/office/drawing/2014/main" val="2228303985"/>
                    </a:ext>
                  </a:extLst>
                </a:gridCol>
                <a:gridCol w="4700016">
                  <a:extLst>
                    <a:ext uri="{9D8B030D-6E8A-4147-A177-3AD203B41FA5}">
                      <a16:colId xmlns:a16="http://schemas.microsoft.com/office/drawing/2014/main" val="293768337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563443976"/>
                    </a:ext>
                  </a:extLst>
                </a:gridCol>
              </a:tblGrid>
              <a:tr h="2520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Search Mode</a:t>
                      </a:r>
                    </a:p>
                  </a:txBody>
                  <a:tcPr marL="63024" marR="63024" marT="31512" marB="31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What it does</a:t>
                      </a:r>
                    </a:p>
                  </a:txBody>
                  <a:tcPr marL="63024" marR="63024" marT="31512" marB="31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Trade-off</a:t>
                      </a:r>
                    </a:p>
                  </a:txBody>
                  <a:tcPr marL="63024" marR="63024" marT="31512" marB="31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2463940"/>
                  </a:ext>
                </a:extLst>
              </a:tr>
              <a:tr h="1197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Fast Mode</a:t>
                      </a:r>
                    </a:p>
                  </a:txBody>
                  <a:tcPr marL="63024" marR="63024" marT="31512" marB="31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Splunk returns only the minimum data needed. </a:t>
                      </a:r>
                      <a:r>
                        <a:rPr lang="en-US" sz="1800" dirty="0"/>
                        <a:t>It focuses on returning events quickly and skips field extraction for fields not explicitly referenced in your search.</a:t>
                      </a:r>
                    </a:p>
                  </a:txBody>
                  <a:tcPr marL="63024" marR="63024" marT="31512" marB="31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Fastest searches, but the fields sidebar may be empty or incomplete. Event details may not show all extracted fields.</a:t>
                      </a:r>
                    </a:p>
                  </a:txBody>
                  <a:tcPr marL="63024" marR="63024" marT="31512" marB="31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2868049"/>
                  </a:ext>
                </a:extLst>
              </a:tr>
              <a:tr h="1764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Smart Mode (Default)</a:t>
                      </a:r>
                    </a:p>
                  </a:txBody>
                  <a:tcPr marL="63024" marR="63024" marT="31512" marB="31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Splunk automatically chooses the level of field extraction based on what your search requires. </a:t>
                      </a:r>
                      <a:r>
                        <a:rPr lang="en-US" sz="1800" dirty="0"/>
                        <a:t>For a simple keyword search, it behaves like Fast mode. If your search uses SPL commands that require field data, such as stats or table, it performs full field extraction.</a:t>
                      </a:r>
                    </a:p>
                  </a:txBody>
                  <a:tcPr marL="63024" marR="63024" marT="31512" marB="31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Balanced speed and functionality, making it the best choice for most use cases.</a:t>
                      </a:r>
                    </a:p>
                  </a:txBody>
                  <a:tcPr marL="63024" marR="63024" marT="31512" marB="31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11254"/>
                  </a:ext>
                </a:extLst>
              </a:tr>
              <a:tr h="1197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Verbose Mode</a:t>
                      </a:r>
                    </a:p>
                  </a:txBody>
                  <a:tcPr marL="63024" marR="63024" marT="31512" marB="31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Performs full field extraction for every event returned</a:t>
                      </a:r>
                      <a:r>
                        <a:rPr lang="en-US" sz="1800" dirty="0"/>
                        <a:t>. Every extractable field is populated, and the fields sidebar shows the complete picture of all fields present in your data.</a:t>
                      </a:r>
                    </a:p>
                  </a:txBody>
                  <a:tcPr marL="63024" marR="63024" marT="31512" marB="31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Slowest mode and requires significantly more processing, especially for large result sets.</a:t>
                      </a:r>
                    </a:p>
                  </a:txBody>
                  <a:tcPr marL="63024" marR="63024" marT="31512" marB="31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135878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2C8E4-4595-FF1F-C87A-63710FA4A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83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A9F2161-CAC6-683E-0A1E-2D88138AE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 in Splunk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B1542A-DE33-D99D-A7FD-84A4625EE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Searches return lists of events.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D0E4F-ADF2-0A6D-D27F-890420063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D37B0F-C02E-4CC0-F028-AB8756619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Splunk Event?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DAD9E6-F1C4-5DC5-9BC9-60BCD932A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An event is a </a:t>
            </a:r>
            <a:r>
              <a:rPr lang="en-US" sz="2000" b="1" dirty="0"/>
              <a:t>single record</a:t>
            </a:r>
            <a:r>
              <a:rPr lang="en-US" sz="2000" dirty="0"/>
              <a:t> in Splunk. It is the atomic unit of data — the equivalent of one row in a database table.</a:t>
            </a:r>
          </a:p>
          <a:p>
            <a:r>
              <a:rPr lang="en-US" sz="2000" dirty="0"/>
              <a:t>In practice, an event often corresponds to:</a:t>
            </a:r>
          </a:p>
          <a:p>
            <a:pPr lvl="1"/>
            <a:r>
              <a:rPr lang="en-US" sz="2000" dirty="0"/>
              <a:t>One line in a log file</a:t>
            </a:r>
          </a:p>
          <a:p>
            <a:pPr lvl="1"/>
            <a:r>
              <a:rPr lang="en-US" sz="2000" dirty="0"/>
              <a:t>One HTTP request in an access log</a:t>
            </a:r>
          </a:p>
          <a:p>
            <a:pPr lvl="1"/>
            <a:r>
              <a:rPr lang="en-US" sz="2000" dirty="0"/>
              <a:t>One JSON object sent via HEC</a:t>
            </a:r>
          </a:p>
          <a:p>
            <a:pPr lvl="1"/>
            <a:r>
              <a:rPr lang="en-US" sz="2000" dirty="0"/>
              <a:t>One Windows Event Log entry</a:t>
            </a:r>
          </a:p>
          <a:p>
            <a:pPr lvl="1"/>
            <a:r>
              <a:rPr lang="en-US" sz="2000" dirty="0"/>
              <a:t>One network connection record</a:t>
            </a:r>
          </a:p>
          <a:p>
            <a:pPr lvl="1"/>
            <a:endParaRPr lang="en-US" sz="2000" dirty="0"/>
          </a:p>
          <a:p>
            <a:r>
              <a:rPr lang="en-US" sz="2000" b="1" dirty="0"/>
              <a:t>Multi-Line Events : </a:t>
            </a:r>
            <a:r>
              <a:rPr lang="en-US" sz="2000" dirty="0"/>
              <a:t>Not all events are single lines. Some log formats span multiple lines — Java stack traces are the classic example:</a:t>
            </a:r>
          </a:p>
          <a:p>
            <a:pPr lvl="1"/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C0CEF-B177-351A-FC27-67D0E9E8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23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134E6-4D27-2B74-1760-A94E45F2DB0D}"/>
              </a:ext>
            </a:extLst>
          </p:cNvPr>
          <p:cNvSpPr txBox="1"/>
          <p:nvPr/>
        </p:nvSpPr>
        <p:spPr>
          <a:xfrm>
            <a:off x="230886" y="4633251"/>
            <a:ext cx="11583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/>
              <a:t>2024-01-15 14:23:01.847  INFO 12345 --- [nio-8080-exec-3] </a:t>
            </a:r>
            <a:r>
              <a:rPr lang="en-US" sz="900" b="1" dirty="0" err="1"/>
              <a:t>c.company.api.PaymentController</a:t>
            </a:r>
            <a:r>
              <a:rPr lang="en-US" sz="900" b="1" dirty="0"/>
              <a:t> : Payment processed successfully | </a:t>
            </a:r>
            <a:r>
              <a:rPr lang="en-US" sz="900" b="1" dirty="0" err="1"/>
              <a:t>orderId</a:t>
            </a:r>
            <a:r>
              <a:rPr lang="en-US" sz="900" b="1" dirty="0"/>
              <a:t>=ORD-84729 | </a:t>
            </a:r>
            <a:r>
              <a:rPr lang="en-US" sz="900" b="1" dirty="0" err="1"/>
              <a:t>userId</a:t>
            </a:r>
            <a:r>
              <a:rPr lang="en-US" sz="900" b="1" dirty="0"/>
              <a:t>=usr_4821 | amount=99.99 | </a:t>
            </a:r>
            <a:r>
              <a:rPr lang="en-US" sz="900" b="1" dirty="0" err="1"/>
              <a:t>durationMs</a:t>
            </a:r>
            <a:r>
              <a:rPr lang="en-US" sz="900" b="1" dirty="0"/>
              <a:t>=342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BC8BAE-A933-1F2D-BBF4-965D411FA771}"/>
              </a:ext>
            </a:extLst>
          </p:cNvPr>
          <p:cNvSpPr txBox="1"/>
          <p:nvPr/>
        </p:nvSpPr>
        <p:spPr>
          <a:xfrm>
            <a:off x="980694" y="5643771"/>
            <a:ext cx="8675370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/>
              <a:t>2024-01-15 14:23:05.123 ERROR 12345 --- [nio-8080-exec-7] </a:t>
            </a:r>
            <a:r>
              <a:rPr lang="en-US" sz="1050" b="1" dirty="0" err="1"/>
              <a:t>c.company.api.PaymentController</a:t>
            </a:r>
            <a:r>
              <a:rPr lang="en-US" sz="1050" b="1" dirty="0"/>
              <a:t> : Payment failed</a:t>
            </a:r>
          </a:p>
          <a:p>
            <a:r>
              <a:rPr lang="en-US" sz="1050" b="1" dirty="0" err="1"/>
              <a:t>java.sql.SQLException</a:t>
            </a:r>
            <a:r>
              <a:rPr lang="en-US" sz="1050" b="1" dirty="0"/>
              <a:t>: Connection timed out    </a:t>
            </a:r>
          </a:p>
          <a:p>
            <a:r>
              <a:rPr lang="en-US" sz="1050" b="1" dirty="0"/>
              <a:t>at </a:t>
            </a:r>
            <a:r>
              <a:rPr lang="en-US" sz="1050" b="1" dirty="0" err="1"/>
              <a:t>com.zaxxer.hikari.pool.HikariPool.getConnection</a:t>
            </a:r>
            <a:r>
              <a:rPr lang="en-US" sz="1050" b="1" dirty="0"/>
              <a:t>(HikariPool.java:213)    </a:t>
            </a:r>
          </a:p>
          <a:p>
            <a:r>
              <a:rPr lang="en-US" sz="1050" b="1" dirty="0"/>
              <a:t>at </a:t>
            </a:r>
            <a:r>
              <a:rPr lang="en-US" sz="1050" b="1" dirty="0" err="1"/>
              <a:t>com.zaxxer.hikari.pool.HikariPool.getConnection</a:t>
            </a:r>
            <a:r>
              <a:rPr lang="en-US" sz="1050" b="1" dirty="0"/>
              <a:t>(HikariPool.java:163)   </a:t>
            </a:r>
          </a:p>
          <a:p>
            <a:r>
              <a:rPr lang="en-US" sz="1050" b="1" dirty="0"/>
              <a:t>at </a:t>
            </a:r>
            <a:r>
              <a:rPr lang="en-US" sz="1050" b="1" dirty="0" err="1"/>
              <a:t>com.company.api.repository.PaymentRepository.save</a:t>
            </a:r>
            <a:r>
              <a:rPr lang="en-US" sz="1050" b="1" dirty="0"/>
              <a:t>(PaymentRepository.java:87)    </a:t>
            </a:r>
          </a:p>
          <a:p>
            <a:r>
              <a:rPr lang="en-US" sz="1050" b="1" dirty="0"/>
              <a:t>at </a:t>
            </a:r>
            <a:r>
              <a:rPr lang="en-US" sz="1050" b="1" dirty="0" err="1"/>
              <a:t>com.company.api.service.PaymentService.processPayment</a:t>
            </a:r>
            <a:r>
              <a:rPr lang="en-US" sz="1050" b="1" dirty="0"/>
              <a:t>(PaymentService.java:142)    </a:t>
            </a:r>
          </a:p>
          <a:p>
            <a:r>
              <a:rPr lang="en-US" sz="1050" b="1" dirty="0"/>
              <a:t>at </a:t>
            </a:r>
            <a:r>
              <a:rPr lang="en-US" sz="1050" b="1" dirty="0" err="1"/>
              <a:t>com.company.api.controller.PaymentController.processPayment</a:t>
            </a:r>
            <a:r>
              <a:rPr lang="en-US" sz="1050" b="1" dirty="0"/>
              <a:t>(PaymentController.java:67)</a:t>
            </a:r>
          </a:p>
        </p:txBody>
      </p:sp>
    </p:spTree>
    <p:extLst>
      <p:ext uri="{BB962C8B-B14F-4D97-AF65-F5344CB8AC3E}">
        <p14:creationId xmlns:p14="http://schemas.microsoft.com/office/powerpoint/2010/main" val="22738902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AFF1-0548-4665-990E-A391EC3B1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Metadata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75262-B0CE-5682-1761-0AE6EEE97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Every Splunk event has four default fields automatically populated at </a:t>
            </a:r>
            <a:br>
              <a:rPr lang="en-US" sz="2400" dirty="0"/>
            </a:br>
            <a:r>
              <a:rPr lang="en-US" sz="2400" dirty="0"/>
              <a:t>index time. </a:t>
            </a:r>
          </a:p>
          <a:p>
            <a:r>
              <a:rPr lang="en-US" sz="2400" dirty="0"/>
              <a:t>These fields are always present — you do not need to extract them from </a:t>
            </a:r>
            <a:br>
              <a:rPr lang="en-US" sz="2400" dirty="0"/>
            </a:br>
            <a:r>
              <a:rPr lang="en-US" sz="2400" dirty="0"/>
              <a:t>the log content.</a:t>
            </a:r>
          </a:p>
          <a:p>
            <a:pPr lvl="1"/>
            <a:r>
              <a:rPr lang="en-US" sz="2000" b="1" dirty="0"/>
              <a:t>_time — The Timestamp : </a:t>
            </a:r>
            <a:r>
              <a:rPr lang="en-US" sz="2000" dirty="0"/>
              <a:t>The Unix timestamp representing when the event occurred.</a:t>
            </a:r>
            <a:endParaRPr lang="en-US" sz="2000" b="1" dirty="0"/>
          </a:p>
          <a:p>
            <a:pPr lvl="1"/>
            <a:r>
              <a:rPr lang="en-US" sz="2000" b="1" dirty="0"/>
              <a:t>host — The Source Machine : </a:t>
            </a:r>
            <a:r>
              <a:rPr lang="en-US" sz="2000" dirty="0"/>
              <a:t>The hostname or IP address of the machine that generated the event.</a:t>
            </a:r>
            <a:endParaRPr lang="en-US" sz="2000" b="1" dirty="0"/>
          </a:p>
          <a:p>
            <a:pPr lvl="1"/>
            <a:r>
              <a:rPr lang="en-US" sz="2000" b="1" dirty="0"/>
              <a:t>source — The Data Origin : </a:t>
            </a:r>
            <a:r>
              <a:rPr lang="en-US" sz="2000" dirty="0"/>
              <a:t>The specific file path, network port, or input name that the event came from.</a:t>
            </a:r>
            <a:endParaRPr lang="en-US" sz="2000" b="1" dirty="0"/>
          </a:p>
          <a:p>
            <a:pPr lvl="1"/>
            <a:r>
              <a:rPr lang="en-US" sz="2000" b="1" dirty="0" err="1"/>
              <a:t>sourcetype</a:t>
            </a:r>
            <a:r>
              <a:rPr lang="en-US" sz="2000" b="1" dirty="0"/>
              <a:t> — The Data Format Classification : </a:t>
            </a:r>
            <a:r>
              <a:rPr lang="en-US" sz="2000" dirty="0"/>
              <a:t>Splunk's classification of what kind of data the event is. The </a:t>
            </a:r>
            <a:r>
              <a:rPr lang="en-US" sz="2000" dirty="0" err="1"/>
              <a:t>sourcetype</a:t>
            </a:r>
            <a:r>
              <a:rPr lang="en-US" sz="2000" dirty="0"/>
              <a:t> determines which parsing rules (timestamp recognition, line breaking, field extraction) Splunk applies to the data.</a:t>
            </a:r>
            <a:endParaRPr lang="en-US" sz="2000" b="1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D04F6-10EA-D341-12AB-3E066D2B5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64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1E8F-BCD0-56CC-A85A-73ABEF06D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Automatic Field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48550-3540-7425-181B-B9935D54C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Splunk automatically extracts fields from events based on the </a:t>
            </a:r>
            <a:r>
              <a:rPr lang="en-US" dirty="0" err="1"/>
              <a:t>sourcetype's</a:t>
            </a:r>
            <a:r>
              <a:rPr lang="en-US" dirty="0"/>
              <a:t> configuration.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69E4E-4EC4-AB75-1FB4-ADBA860B3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6010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33BB39-B46B-BBC4-4C8F-FD0806CF4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Automatic Extraction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A91F2B-03FD-505B-253E-23F217341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For JSON-formatted data, Splunk automatically extracts every key-value pair as a field. </a:t>
            </a:r>
          </a:p>
          <a:p>
            <a:r>
              <a:rPr lang="en-US" sz="2000" dirty="0"/>
              <a:t>This is the biggest reason to use structured JSON logging in your applications — zero configuration needed.</a:t>
            </a:r>
          </a:p>
          <a:p>
            <a:pPr marL="0" indent="0">
              <a:buNone/>
            </a:pPr>
            <a:r>
              <a:rPr lang="en-US" sz="800" b="1" dirty="0">
                <a:solidFill>
                  <a:srgbClr val="FF0000"/>
                </a:solidFill>
              </a:rPr>
              <a:t>{"timestamp":"2024-01-15T14:23:01.847Z","level":"ERROR","service":"payment-service","message":"Payment failed","orderId":"ORD-84729","userId":"usr_4821","errorCode":"DB_TIMEOUT","durationMs":5021}</a:t>
            </a:r>
          </a:p>
          <a:p>
            <a:r>
              <a:rPr lang="en-US" sz="2000" b="1" dirty="0"/>
              <a:t>Automatically extracted fields:</a:t>
            </a:r>
            <a:endParaRPr lang="en-US" sz="2000" dirty="0"/>
          </a:p>
          <a:p>
            <a:pPr lvl="1"/>
            <a:r>
              <a:rPr lang="en-US" sz="1600" dirty="0"/>
              <a:t>timestamp = 2024-01-15T14:23:01.847Z</a:t>
            </a:r>
          </a:p>
          <a:p>
            <a:pPr lvl="1"/>
            <a:r>
              <a:rPr lang="en-US" sz="1600" dirty="0"/>
              <a:t>level = ERROR</a:t>
            </a:r>
          </a:p>
          <a:p>
            <a:pPr lvl="1"/>
            <a:r>
              <a:rPr lang="en-US" sz="1600" dirty="0"/>
              <a:t>service = payment-service</a:t>
            </a:r>
          </a:p>
          <a:p>
            <a:pPr lvl="1"/>
            <a:r>
              <a:rPr lang="en-US" sz="1600" dirty="0"/>
              <a:t>message = Payment failed</a:t>
            </a:r>
          </a:p>
          <a:p>
            <a:pPr lvl="1"/>
            <a:r>
              <a:rPr lang="en-US" sz="1600" dirty="0" err="1"/>
              <a:t>orderId</a:t>
            </a:r>
            <a:r>
              <a:rPr lang="en-US" sz="1600" dirty="0"/>
              <a:t> = ORD-84729</a:t>
            </a:r>
          </a:p>
          <a:p>
            <a:pPr lvl="1"/>
            <a:r>
              <a:rPr lang="en-US" sz="1600" dirty="0" err="1"/>
              <a:t>userId</a:t>
            </a:r>
            <a:r>
              <a:rPr lang="en-US" sz="1600" dirty="0"/>
              <a:t> = usr_4821</a:t>
            </a:r>
          </a:p>
          <a:p>
            <a:pPr lvl="1"/>
            <a:r>
              <a:rPr lang="en-US" sz="1600" dirty="0" err="1"/>
              <a:t>errorCode</a:t>
            </a:r>
            <a:r>
              <a:rPr lang="en-US" sz="1600" dirty="0"/>
              <a:t> = DB_TIMEOUT</a:t>
            </a:r>
          </a:p>
          <a:p>
            <a:pPr lvl="1"/>
            <a:r>
              <a:rPr lang="en-US" sz="1600" dirty="0" err="1"/>
              <a:t>durationMs</a:t>
            </a:r>
            <a:r>
              <a:rPr lang="en-US" sz="1600" dirty="0"/>
              <a:t> = 5021</a:t>
            </a:r>
          </a:p>
          <a:p>
            <a:r>
              <a:rPr lang="en-US" sz="2000" b="1" dirty="0"/>
              <a:t>You can immediately search these fields with no configuration:</a:t>
            </a:r>
          </a:p>
          <a:p>
            <a:pPr lvl="1"/>
            <a:r>
              <a:rPr lang="en-US" sz="1600" dirty="0"/>
              <a:t>index=</a:t>
            </a:r>
            <a:r>
              <a:rPr lang="en-US" sz="1600" dirty="0" err="1"/>
              <a:t>prod_payments</a:t>
            </a:r>
            <a:r>
              <a:rPr lang="en-US" sz="1600" dirty="0"/>
              <a:t> </a:t>
            </a:r>
            <a:r>
              <a:rPr lang="en-US" sz="1600" dirty="0" err="1"/>
              <a:t>sourcetype</a:t>
            </a:r>
            <a:r>
              <a:rPr lang="en-US" sz="1600" dirty="0"/>
              <a:t>=</a:t>
            </a:r>
            <a:r>
              <a:rPr lang="en-US" sz="1600" dirty="0" err="1"/>
              <a:t>payment_json</a:t>
            </a:r>
            <a:r>
              <a:rPr lang="en-US" sz="1600" dirty="0"/>
              <a:t> </a:t>
            </a:r>
            <a:r>
              <a:rPr lang="en-US" sz="1600" dirty="0" err="1"/>
              <a:t>errorCode</a:t>
            </a:r>
            <a:r>
              <a:rPr lang="en-US" sz="1600" dirty="0"/>
              <a:t>=DB_TIMEOUT</a:t>
            </a:r>
          </a:p>
          <a:p>
            <a:pPr lvl="1"/>
            <a:r>
              <a:rPr lang="en-US" sz="1600" dirty="0"/>
              <a:t>index=</a:t>
            </a:r>
            <a:r>
              <a:rPr lang="en-US" sz="1600" dirty="0" err="1"/>
              <a:t>prod_payments</a:t>
            </a:r>
            <a:r>
              <a:rPr lang="en-US" sz="1600" dirty="0"/>
              <a:t> </a:t>
            </a:r>
            <a:r>
              <a:rPr lang="en-US" sz="1600" dirty="0" err="1"/>
              <a:t>sourcetype</a:t>
            </a:r>
            <a:r>
              <a:rPr lang="en-US" sz="1600" dirty="0"/>
              <a:t>=</a:t>
            </a:r>
            <a:r>
              <a:rPr lang="en-US" sz="1600" dirty="0" err="1"/>
              <a:t>payment_json</a:t>
            </a:r>
            <a:r>
              <a:rPr lang="en-US" sz="1600" dirty="0"/>
              <a:t> </a:t>
            </a:r>
            <a:r>
              <a:rPr lang="en-US" sz="1600" dirty="0" err="1"/>
              <a:t>durationMs</a:t>
            </a:r>
            <a:r>
              <a:rPr lang="en-US" sz="1600" dirty="0"/>
              <a:t>&gt;5000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F155F-72C9-50A4-22A0-62EA77D8B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49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9203-56F2-C2FD-FB58-7D82A495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Key-Value Pair Automatic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AB4DF-170D-0818-1F1D-2AE05D217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For unstructured logs that use consistent key=value formatting, Splunk's built-in KV extraction often works automatically:</a:t>
            </a:r>
          </a:p>
          <a:p>
            <a:pPr marL="0" indent="0">
              <a:buNone/>
            </a:pPr>
            <a:r>
              <a:rPr lang="en-US" sz="2000" dirty="0"/>
              <a:t>2024-01-15 14:23:01 INFO </a:t>
            </a:r>
            <a:r>
              <a:rPr lang="en-US" sz="2000" dirty="0" err="1"/>
              <a:t>orderId</a:t>
            </a:r>
            <a:r>
              <a:rPr lang="en-US" sz="2000" dirty="0"/>
              <a:t>=ORD-84729 </a:t>
            </a:r>
            <a:r>
              <a:rPr lang="en-US" sz="2000" dirty="0" err="1"/>
              <a:t>userId</a:t>
            </a:r>
            <a:r>
              <a:rPr lang="en-US" sz="2000" dirty="0"/>
              <a:t>=usr_4821 amount=99.99 status=SUCCESS </a:t>
            </a:r>
            <a:r>
              <a:rPr lang="en-US" sz="2000" dirty="0" err="1"/>
              <a:t>durationMs</a:t>
            </a:r>
            <a:r>
              <a:rPr lang="en-US" sz="2000" dirty="0"/>
              <a:t>=342</a:t>
            </a:r>
          </a:p>
          <a:p>
            <a:r>
              <a:rPr lang="en-US" sz="2000" dirty="0"/>
              <a:t>Splunk automatically extracts: </a:t>
            </a:r>
            <a:r>
              <a:rPr lang="en-US" sz="2000" dirty="0" err="1"/>
              <a:t>orderId</a:t>
            </a:r>
            <a:r>
              <a:rPr lang="en-US" sz="2000" dirty="0"/>
              <a:t>, </a:t>
            </a:r>
            <a:r>
              <a:rPr lang="en-US" sz="2000" dirty="0" err="1"/>
              <a:t>userId</a:t>
            </a:r>
            <a:r>
              <a:rPr lang="en-US" sz="2000" dirty="0"/>
              <a:t>, amount, status, </a:t>
            </a:r>
            <a:r>
              <a:rPr lang="en-US" sz="2000" dirty="0" err="1"/>
              <a:t>durationMs</a:t>
            </a:r>
            <a:r>
              <a:rPr lang="en-US" sz="2000" dirty="0"/>
              <a:t> as fields.</a:t>
            </a:r>
          </a:p>
          <a:p>
            <a:r>
              <a:rPr lang="en-US" sz="2000" b="1" dirty="0"/>
              <a:t>Access Log Automatic Extraction</a:t>
            </a:r>
          </a:p>
          <a:p>
            <a:pPr lvl="1"/>
            <a:r>
              <a:rPr lang="en-US" sz="1600" dirty="0"/>
              <a:t>The </a:t>
            </a:r>
            <a:r>
              <a:rPr lang="en-US" sz="1600" dirty="0" err="1"/>
              <a:t>access_combined</a:t>
            </a:r>
            <a:r>
              <a:rPr lang="en-US" sz="1600" dirty="0"/>
              <a:t> </a:t>
            </a:r>
            <a:r>
              <a:rPr lang="en-US" sz="1600" dirty="0" err="1"/>
              <a:t>sourcetype</a:t>
            </a:r>
            <a:r>
              <a:rPr lang="en-US" sz="1600" dirty="0"/>
              <a:t> automatically extracts:</a:t>
            </a:r>
          </a:p>
          <a:p>
            <a:pPr lvl="1"/>
            <a:r>
              <a:rPr lang="en-US" sz="1600" dirty="0" err="1"/>
              <a:t>clientip</a:t>
            </a:r>
            <a:r>
              <a:rPr lang="en-US" sz="1600" dirty="0"/>
              <a:t> — the requester's IP address</a:t>
            </a:r>
          </a:p>
          <a:p>
            <a:pPr lvl="1"/>
            <a:r>
              <a:rPr lang="en-US" sz="1600" dirty="0"/>
              <a:t>method — HTTP method (GET, POST, etc.)</a:t>
            </a:r>
          </a:p>
          <a:p>
            <a:pPr lvl="1"/>
            <a:r>
              <a:rPr lang="en-US" sz="1600" dirty="0" err="1"/>
              <a:t>uri</a:t>
            </a:r>
            <a:r>
              <a:rPr lang="en-US" sz="1600" dirty="0"/>
              <a:t> — the requested URI path</a:t>
            </a:r>
          </a:p>
          <a:p>
            <a:pPr lvl="1"/>
            <a:r>
              <a:rPr lang="en-US" sz="1600" dirty="0"/>
              <a:t>status — HTTP status code</a:t>
            </a:r>
          </a:p>
          <a:p>
            <a:pPr lvl="1"/>
            <a:r>
              <a:rPr lang="en-US" sz="1600" dirty="0"/>
              <a:t>bytes — response size in bytes</a:t>
            </a:r>
          </a:p>
          <a:p>
            <a:pPr lvl="1"/>
            <a:r>
              <a:rPr lang="en-US" sz="1600" dirty="0"/>
              <a:t>referrer — the referring URL</a:t>
            </a:r>
          </a:p>
          <a:p>
            <a:pPr lvl="1"/>
            <a:r>
              <a:rPr lang="en-US" sz="1600" dirty="0" err="1"/>
              <a:t>useragent</a:t>
            </a:r>
            <a:r>
              <a:rPr lang="en-US" sz="1600" dirty="0"/>
              <a:t> — the client's User-Agent string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63369-93FF-566E-0C76-6AD24FA6F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27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A00E9C-4AFB-4CCD-3DEB-056CBAE79B99}"/>
              </a:ext>
            </a:extLst>
          </p:cNvPr>
          <p:cNvSpPr txBox="1"/>
          <p:nvPr/>
        </p:nvSpPr>
        <p:spPr>
          <a:xfrm>
            <a:off x="5779008" y="4776708"/>
            <a:ext cx="6163056" cy="135421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-- Find all POST requests returning 500 errors</a:t>
            </a:r>
          </a:p>
          <a:p>
            <a:r>
              <a:rPr lang="en-US" sz="1400" dirty="0"/>
              <a:t>index=</a:t>
            </a:r>
            <a:r>
              <a:rPr lang="en-US" sz="1400" dirty="0" err="1"/>
              <a:t>prod_api</a:t>
            </a:r>
            <a:r>
              <a:rPr lang="en-US" sz="1400" dirty="0"/>
              <a:t> </a:t>
            </a:r>
            <a:r>
              <a:rPr lang="en-US" sz="1400" dirty="0" err="1"/>
              <a:t>sourcetype</a:t>
            </a:r>
            <a:r>
              <a:rPr lang="en-US" sz="1400" dirty="0"/>
              <a:t>=</a:t>
            </a:r>
            <a:r>
              <a:rPr lang="en-US" sz="1400" dirty="0" err="1"/>
              <a:t>access_combined</a:t>
            </a:r>
            <a:r>
              <a:rPr lang="en-US" sz="1400" dirty="0"/>
              <a:t> method=POST status=500</a:t>
            </a:r>
          </a:p>
          <a:p>
            <a:endParaRPr lang="en-US" dirty="0"/>
          </a:p>
          <a:p>
            <a:r>
              <a:rPr lang="en-US" dirty="0"/>
              <a:t>-- Find slow requests</a:t>
            </a:r>
          </a:p>
          <a:p>
            <a:r>
              <a:rPr lang="en-US" sz="1400" dirty="0"/>
              <a:t>index=</a:t>
            </a:r>
            <a:r>
              <a:rPr lang="en-US" sz="1400" dirty="0" err="1"/>
              <a:t>prod_api</a:t>
            </a:r>
            <a:r>
              <a:rPr lang="en-US" sz="1400" dirty="0"/>
              <a:t> </a:t>
            </a:r>
            <a:r>
              <a:rPr lang="en-US" sz="1400" dirty="0" err="1"/>
              <a:t>sourcetype</a:t>
            </a:r>
            <a:r>
              <a:rPr lang="en-US" sz="1400" dirty="0"/>
              <a:t>=</a:t>
            </a:r>
            <a:r>
              <a:rPr lang="en-US" sz="1400" dirty="0" err="1"/>
              <a:t>access_combined</a:t>
            </a:r>
            <a:r>
              <a:rPr lang="en-US" sz="1400" dirty="0"/>
              <a:t> | where bytes &gt; 1000000</a:t>
            </a:r>
          </a:p>
        </p:txBody>
      </p:sp>
    </p:spTree>
    <p:extLst>
      <p:ext uri="{BB962C8B-B14F-4D97-AF65-F5344CB8AC3E}">
        <p14:creationId xmlns:p14="http://schemas.microsoft.com/office/powerpoint/2010/main" val="1291393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474F4-65DD-6E00-2647-D57F0EC15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Field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0A503-A2D9-99DE-AAF5-D2DC0C623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Splunk's automatic extraction does not capture a field you need — because your log format is custom or non-standard — you can create manual field extractions.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861E3-6E3E-90BC-31E1-27F1B09CC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4839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26EEC8-94BB-3319-5B1E-29DD25949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Search Processing Language (SPL)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997612-A10F-C62E-BCEB-4D061AE58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 is Splunk's query language — the tool that transforms raw log data into answers.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F5B17-6A29-80A2-C061-2F07390E8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066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9B3724-326E-AB1B-1459-D5D5D7F23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Pipe Concept — The Heart of SPL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4D0715-9618-6A54-0894-F7059F31B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32794"/>
            <a:ext cx="10972800" cy="4411662"/>
          </a:xfrm>
        </p:spPr>
        <p:txBody>
          <a:bodyPr/>
          <a:lstStyle/>
          <a:p>
            <a:r>
              <a:rPr lang="en-US" sz="2000" dirty="0"/>
              <a:t>A search starts with an initial search that fetches events from the index, then pipes those events through a series of commands that transform, filter, or aggregate them: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Each </a:t>
            </a:r>
            <a:r>
              <a:rPr lang="en-US" dirty="0"/>
              <a:t>|</a:t>
            </a:r>
            <a:r>
              <a:rPr lang="en-US" sz="2000" dirty="0"/>
              <a:t> passes the entire dataset to the next command. Commands do not fetch from disk — they operate on the in-memory dataset passed to them by the previous step.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D1299-0E05-3190-6B2D-905B625A6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30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50B090-FB67-507C-63E2-321AEE3FA8DB}"/>
              </a:ext>
            </a:extLst>
          </p:cNvPr>
          <p:cNvSpPr txBox="1"/>
          <p:nvPr/>
        </p:nvSpPr>
        <p:spPr>
          <a:xfrm>
            <a:off x="797814" y="2593771"/>
            <a:ext cx="3591306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index=</a:t>
            </a:r>
            <a:r>
              <a:rPr lang="en-US" dirty="0" err="1"/>
              <a:t>prod_api</a:t>
            </a:r>
            <a:r>
              <a:rPr lang="en-US" dirty="0"/>
              <a:t> level=ERROR</a:t>
            </a:r>
            <a:br>
              <a:rPr lang="en-US" dirty="0"/>
            </a:br>
            <a:r>
              <a:rPr lang="en-US" dirty="0"/>
              <a:t>| stats count by endpoint</a:t>
            </a:r>
            <a:br>
              <a:rPr lang="en-US" dirty="0"/>
            </a:br>
            <a:r>
              <a:rPr lang="en-US" dirty="0"/>
              <a:t>| sort –count</a:t>
            </a:r>
            <a:br>
              <a:rPr lang="en-US" dirty="0"/>
            </a:br>
            <a:r>
              <a:rPr lang="en-US" dirty="0"/>
              <a:t>| head 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D9D841-E66C-121E-30F0-1494E78710F4}"/>
              </a:ext>
            </a:extLst>
          </p:cNvPr>
          <p:cNvSpPr txBox="1"/>
          <p:nvPr/>
        </p:nvSpPr>
        <p:spPr>
          <a:xfrm>
            <a:off x="5013198" y="2527084"/>
            <a:ext cx="6094476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"Get all ERROR-level events from </a:t>
            </a:r>
            <a:r>
              <a:rPr lang="en-US" dirty="0" err="1"/>
              <a:t>prod_api</a:t>
            </a:r>
            <a:r>
              <a:rPr lang="en-US" dirty="0"/>
              <a:t>..."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"...count them, grouped by endpoint..."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"...sort descending by count..."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"...keep only the top 10 rows."</a:t>
            </a:r>
          </a:p>
        </p:txBody>
      </p:sp>
    </p:spTree>
    <p:extLst>
      <p:ext uri="{BB962C8B-B14F-4D97-AF65-F5344CB8AC3E}">
        <p14:creationId xmlns:p14="http://schemas.microsoft.com/office/powerpoint/2010/main" val="29461927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C0F32-8305-7813-9B0D-00C9453F4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Categories of SPL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6FC6C-E4F6-B089-E49A-219D54D32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Streaming commands</a:t>
            </a:r>
            <a:r>
              <a:rPr lang="en-US" sz="2400" dirty="0"/>
              <a:t> — operate on one event at a time and pass each event through immediately. </a:t>
            </a:r>
          </a:p>
          <a:p>
            <a:pPr lvl="1"/>
            <a:r>
              <a:rPr lang="en-US" sz="2000" dirty="0"/>
              <a:t>Examples: where, eval, rename, rex. </a:t>
            </a:r>
          </a:p>
          <a:p>
            <a:pPr lvl="1"/>
            <a:r>
              <a:rPr lang="en-US" sz="2000" dirty="0"/>
              <a:t>These can handle any volume of data.</a:t>
            </a:r>
          </a:p>
          <a:p>
            <a:r>
              <a:rPr lang="en-US" sz="2400" b="1" dirty="0"/>
              <a:t>Transforming commands</a:t>
            </a:r>
            <a:r>
              <a:rPr lang="en-US" sz="2400" dirty="0"/>
              <a:t> — consume ALL events from the previous step and produce a NEW, summarized dataset. </a:t>
            </a:r>
          </a:p>
          <a:p>
            <a:pPr lvl="1"/>
            <a:r>
              <a:rPr lang="en-US" sz="2000" dirty="0"/>
              <a:t>Examples: stats, chart, </a:t>
            </a:r>
            <a:r>
              <a:rPr lang="en-US" sz="2000" dirty="0" err="1"/>
              <a:t>timechart</a:t>
            </a:r>
            <a:r>
              <a:rPr lang="en-US" sz="2000" dirty="0"/>
              <a:t>, top. </a:t>
            </a:r>
          </a:p>
          <a:p>
            <a:pPr lvl="1"/>
            <a:r>
              <a:rPr lang="en-US" sz="2000" dirty="0"/>
              <a:t>After a transforming command, you are no longer working with individual events — you are working with summary rows.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E1BE2-7A5F-C7DF-D91A-950CBFF02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506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6935C-9F83-B05E-3A97-4149869B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Initial Search (Before the First Pipe)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CB002-0652-8A85-BCD3-B8EB471AE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part of an SPL query before the first | is the </a:t>
            </a:r>
            <a:r>
              <a:rPr lang="en-US" sz="2400" b="1" dirty="0"/>
              <a:t>initial search</a:t>
            </a:r>
            <a:r>
              <a:rPr lang="en-US" sz="2400" dirty="0"/>
              <a:t>. It retrieves events from Splunk's indexes using keyword and field-value search syntax.</a:t>
            </a:r>
          </a:p>
          <a:p>
            <a:r>
              <a:rPr lang="en-US" sz="2400" dirty="0"/>
              <a:t>Best practices for initial searches:</a:t>
            </a:r>
          </a:p>
          <a:p>
            <a:pPr lvl="1"/>
            <a:r>
              <a:rPr lang="en-US" sz="2200" b="1" dirty="0"/>
              <a:t>Always specify index=</a:t>
            </a:r>
            <a:r>
              <a:rPr lang="en-US" sz="2200" dirty="0"/>
              <a:t> — restricts the search to relevant data</a:t>
            </a:r>
          </a:p>
          <a:p>
            <a:pPr lvl="1"/>
            <a:r>
              <a:rPr lang="en-US" sz="2200" b="1" dirty="0"/>
              <a:t>Specify </a:t>
            </a:r>
            <a:r>
              <a:rPr lang="en-US" sz="2200" b="1" dirty="0" err="1"/>
              <a:t>sourcetype</a:t>
            </a:r>
            <a:r>
              <a:rPr lang="en-US" sz="2200" b="1" dirty="0"/>
              <a:t>=</a:t>
            </a:r>
            <a:r>
              <a:rPr lang="en-US" sz="2200" dirty="0"/>
              <a:t> when you know it — further narrows scope</a:t>
            </a:r>
          </a:p>
          <a:p>
            <a:pPr lvl="1"/>
            <a:r>
              <a:rPr lang="en-US" sz="2200" b="1" dirty="0"/>
              <a:t>Use the most specific field-value filters you can</a:t>
            </a:r>
            <a:r>
              <a:rPr lang="en-US" sz="2200" dirty="0"/>
              <a:t> — the narrower the initial search, the fewer events are passed to downstream commands, and the faster everything runs</a:t>
            </a:r>
          </a:p>
          <a:p>
            <a:pPr lvl="1"/>
            <a:r>
              <a:rPr lang="en-US" sz="2200" b="1" dirty="0"/>
              <a:t>Use time range from the picker OR earliest/latest in the query</a:t>
            </a:r>
            <a:r>
              <a:rPr lang="en-US" sz="2200" dirty="0"/>
              <a:t> — but not both (they can conflict)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522FA-D4BA-4DED-2220-89F813C5C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0504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331A75-892F-1055-BAD2-78D9B1A0A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SPL Commands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E722C6-CB13-79DB-A6E4-DB6EFA4E3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5EA74-FDCE-046A-6108-5AED79DE2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32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D6F31-FF66-C6AB-362B-6AC5DF5D4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Splunk Knowledge Objects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E4B33-84E3-0AED-1B81-BDD3EE365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Splunk Knowledge Objects are reusable, saved configurations that apply automatically to your searches.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E220D-ACEC-47BE-B8FD-BD6AD0A97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691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C38D577-1511-E6F9-C881-7F2818A5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Objects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CC5A51-7681-2FC6-8ED7-804C9CE34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 knowledge object is any saved configuration in Splunk that adds structure, context, or meaning to your data. Knowledge objects are:</a:t>
            </a:r>
          </a:p>
          <a:p>
            <a:pPr lvl="1"/>
            <a:r>
              <a:rPr lang="en-US" sz="2200" b="1" dirty="0"/>
              <a:t>Reusable:</a:t>
            </a:r>
            <a:r>
              <a:rPr lang="en-US" sz="2200" dirty="0"/>
              <a:t> Defined once, available in every search, dashboard, and alert</a:t>
            </a:r>
          </a:p>
          <a:p>
            <a:pPr lvl="1"/>
            <a:r>
              <a:rPr lang="en-US" sz="2200" b="1" dirty="0"/>
              <a:t>Shared:</a:t>
            </a:r>
            <a:r>
              <a:rPr lang="en-US" sz="2200" dirty="0"/>
              <a:t> Can be shared with specific users, roles, or all users of an app</a:t>
            </a:r>
          </a:p>
          <a:p>
            <a:pPr lvl="1"/>
            <a:r>
              <a:rPr lang="en-US" sz="2200" b="1" dirty="0"/>
              <a:t>Persistent:</a:t>
            </a:r>
            <a:r>
              <a:rPr lang="en-US" sz="2200" dirty="0"/>
              <a:t> Stored in Splunk's configuration system, not inside individual search queries</a:t>
            </a:r>
          </a:p>
          <a:p>
            <a:pPr lvl="1"/>
            <a:r>
              <a:rPr lang="en-US" sz="2200" b="1" dirty="0"/>
              <a:t>Cumulative:</a:t>
            </a:r>
            <a:r>
              <a:rPr lang="en-US" sz="2200" dirty="0"/>
              <a:t> Multiple knowledge objects layer on top of each other to progressively enrich your data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7C5A5-78ED-FB36-6064-AF240916A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294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52370-E218-E606-3682-C2C6B8C15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Types Of Knowledge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8B38C-8C5E-0EE0-716F-5A60CC78E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000" b="1" dirty="0"/>
              <a:t>Saved Searches (and Reports) </a:t>
            </a:r>
            <a:r>
              <a:rPr lang="en-US" sz="2000" dirty="0"/>
              <a:t>: A </a:t>
            </a:r>
            <a:r>
              <a:rPr lang="en-US" sz="2000" b="1" dirty="0"/>
              <a:t>saved search</a:t>
            </a:r>
            <a:r>
              <a:rPr lang="en-US" sz="2000" dirty="0"/>
              <a:t> is a stored SPL query, complete with a time range, that you can re-run on demand or on a schedule.</a:t>
            </a:r>
          </a:p>
          <a:p>
            <a:pPr lvl="0"/>
            <a:r>
              <a:rPr lang="en-US" sz="2000" b="1" dirty="0"/>
              <a:t>Field Extractions </a:t>
            </a:r>
            <a:r>
              <a:rPr lang="en-US" sz="2000" dirty="0"/>
              <a:t>: Field extractions define how Splunk pulls structured fields out of raw event text. They are applied automatically at search time whenever the matching </a:t>
            </a:r>
            <a:r>
              <a:rPr lang="en-US" sz="2000" dirty="0" err="1"/>
              <a:t>sourcetype</a:t>
            </a:r>
            <a:r>
              <a:rPr lang="en-US" sz="2000" dirty="0"/>
              <a:t> is queried.</a:t>
            </a:r>
          </a:p>
          <a:p>
            <a:pPr lvl="0"/>
            <a:r>
              <a:rPr lang="en-US" sz="2000" b="1" dirty="0"/>
              <a:t>Lookups (Lookup Table Files + Lookup Definitions + Automatic Lookups) </a:t>
            </a:r>
            <a:r>
              <a:rPr lang="en-US" sz="2000" dirty="0"/>
              <a:t>: As a knowledge object, a lookup is a stored reference table that can be applied automatically without being typed in every search.</a:t>
            </a:r>
          </a:p>
          <a:p>
            <a:pPr lvl="0"/>
            <a:r>
              <a:rPr lang="en-US" sz="2000" b="1" dirty="0"/>
              <a:t>Event Types </a:t>
            </a:r>
            <a:r>
              <a:rPr lang="en-US" sz="2000" dirty="0"/>
              <a:t>: An </a:t>
            </a:r>
            <a:r>
              <a:rPr lang="en-US" sz="2000" b="1" dirty="0"/>
              <a:t>event type</a:t>
            </a:r>
            <a:r>
              <a:rPr lang="en-US" sz="2000" dirty="0"/>
              <a:t> is a saved search filter that categorizes events. It gives a meaningful label to events matching specific criteria, letting you refer to a set of events by name rather than by the search expression that finds them.</a:t>
            </a:r>
          </a:p>
          <a:p>
            <a:pPr lvl="0"/>
            <a:r>
              <a:rPr lang="en-US" sz="2000" b="1" dirty="0"/>
              <a:t>Tags</a:t>
            </a:r>
            <a:r>
              <a:rPr lang="en-US" sz="2000" dirty="0"/>
              <a:t> : </a:t>
            </a:r>
            <a:r>
              <a:rPr lang="en-US" sz="2000" b="1" dirty="0"/>
              <a:t>Tags</a:t>
            </a:r>
            <a:r>
              <a:rPr lang="en-US" sz="2000" dirty="0"/>
              <a:t> are labels you assign to specific field-value pairs. Once tagged, you can search for events using the tag rather than the original field-value expression.</a:t>
            </a:r>
          </a:p>
          <a:p>
            <a:pPr lvl="0"/>
            <a:r>
              <a:rPr lang="en-US" sz="2000" b="1" dirty="0"/>
              <a:t>Field Aliases </a:t>
            </a:r>
            <a:r>
              <a:rPr lang="en-US" sz="2000" dirty="0"/>
              <a:t>: A </a:t>
            </a:r>
            <a:r>
              <a:rPr lang="en-US" sz="2000" b="1" dirty="0"/>
              <a:t>field alias</a:t>
            </a:r>
            <a:r>
              <a:rPr lang="en-US" sz="2000" dirty="0"/>
              <a:t> creates an alternate name for an existing field. When you alias field A to B, searching for B=value returns events where A=value.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1CDEE-8008-8D0B-5517-71D273B3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596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FFF71F-61DA-144B-6D24-FE98BCC5B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Reports, Alerts, and Dashboards in Splunk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D7776E-C0C3-33A2-4272-E59431A2F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BED4C-4541-B5F0-951D-09CCA3EDF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360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645213-57F0-63BC-4C13-9F3B6225E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7BEF2D-F9D3-27E7-E542-97BC98E96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report</a:t>
            </a:r>
            <a:r>
              <a:rPr lang="en-US" dirty="0"/>
              <a:t> in Splunk is a saved search that can be scheduled to run automatically and whose results can be delivered via email, stored for later viewing, or used to drive summary indexes.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7198D-BDA6-D65E-0B54-48D7FB0D4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2757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18FF1-27E3-F77D-4A67-64D0EF0E7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907EE-3607-50E7-7F9C-806F77F54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alert</a:t>
            </a:r>
            <a:r>
              <a:rPr lang="en-US" dirty="0"/>
              <a:t> is a saved search that runs on a schedule (or in real time) and triggers one or more </a:t>
            </a:r>
            <a:r>
              <a:rPr lang="en-US" b="1" dirty="0"/>
              <a:t>actions</a:t>
            </a:r>
            <a:r>
              <a:rPr lang="en-US" dirty="0"/>
              <a:t> when specified conditions are met. </a:t>
            </a:r>
          </a:p>
          <a:p>
            <a:r>
              <a:rPr lang="en-US" dirty="0"/>
              <a:t>Unlike reports (which always deliver results), alerts only fire when a threshold is crossed.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5902C-EC81-EB30-D61D-393CF68BD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210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6DC4-E613-013C-7676-B0311CE5F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FBFDE-4879-BA2D-445B-803786BAC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Splunk </a:t>
            </a:r>
            <a:r>
              <a:rPr lang="en-US" b="1" dirty="0"/>
              <a:t>dashboard</a:t>
            </a:r>
            <a:r>
              <a:rPr lang="en-US" dirty="0"/>
              <a:t> is a page containing one or more </a:t>
            </a:r>
            <a:r>
              <a:rPr lang="en-US" b="1" dirty="0"/>
              <a:t>panels</a:t>
            </a:r>
            <a:r>
              <a:rPr lang="en-US" dirty="0"/>
              <a:t>. </a:t>
            </a:r>
          </a:p>
          <a:p>
            <a:r>
              <a:rPr lang="en-US" dirty="0"/>
              <a:t>Each panel displays the results of a search as a visualization (chart, table, single value, etc.). </a:t>
            </a:r>
          </a:p>
          <a:p>
            <a:r>
              <a:rPr lang="en-US" dirty="0"/>
              <a:t>Dashboards give teams a real-time view of system health without requiring SPL knowledge.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36E4D-98B6-E519-8F88-49BA34783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AD2A-6471-461C-9DEB-02E205D4FEB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001074"/>
      </p:ext>
    </p:extLst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Learners Point</Template>
  <TotalTime>186</TotalTime>
  <Words>3276</Words>
  <Application>Microsoft Office PowerPoint</Application>
  <PresentationFormat>Widescreen</PresentationFormat>
  <Paragraphs>290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Arial</vt:lpstr>
      <vt:lpstr>Courier New</vt:lpstr>
      <vt:lpstr>Wingdings</vt:lpstr>
      <vt:lpstr>Learners Point</vt:lpstr>
      <vt:lpstr>Splunk </vt:lpstr>
      <vt:lpstr>What Is Splunk?</vt:lpstr>
      <vt:lpstr>What Is Splunk?</vt:lpstr>
      <vt:lpstr>Splunk Architecture Overview</vt:lpstr>
      <vt:lpstr>Splunk Enterprise vs Splunk Cloud</vt:lpstr>
      <vt:lpstr>The Three Pillars of Splunk Use Cases</vt:lpstr>
      <vt:lpstr>Pillar 1: IT Operations and Application Monitoring (AIOps/Observability)</vt:lpstr>
      <vt:lpstr>Pillar 2: Security Information and Event Management (SIEM)</vt:lpstr>
      <vt:lpstr>Pillar 3: Business Analytics</vt:lpstr>
      <vt:lpstr>Observability in Cloud-Native Environments</vt:lpstr>
      <vt:lpstr>Using Splunk</vt:lpstr>
      <vt:lpstr>The Splunk Web Interface</vt:lpstr>
      <vt:lpstr>The Index: Splunk's Data Organization Unit</vt:lpstr>
      <vt:lpstr>Default Indexes</vt:lpstr>
      <vt:lpstr>Searching Across Indexes</vt:lpstr>
      <vt:lpstr>Data Inputs: Getting Data Into Splunk</vt:lpstr>
      <vt:lpstr>Using Search in Splunk</vt:lpstr>
      <vt:lpstr>The Search &amp; Reporting App Interface</vt:lpstr>
      <vt:lpstr>Search Types: Keyword vs Field-Value</vt:lpstr>
      <vt:lpstr>Combining Keyword and Field-Value Search</vt:lpstr>
      <vt:lpstr>Search Modes</vt:lpstr>
      <vt:lpstr>Events in Splunk</vt:lpstr>
      <vt:lpstr>What Is a Splunk Event?</vt:lpstr>
      <vt:lpstr>Default Metadata Fields</vt:lpstr>
      <vt:lpstr>Automatic Field Extraction</vt:lpstr>
      <vt:lpstr>JSON Automatic Extraction</vt:lpstr>
      <vt:lpstr>Key-Value Pair Automatic Extraction</vt:lpstr>
      <vt:lpstr>Manual Field Extraction</vt:lpstr>
      <vt:lpstr>Search Processing Language (SPL)</vt:lpstr>
      <vt:lpstr>The Pipe Concept — The Heart of SPL</vt:lpstr>
      <vt:lpstr>Categories of SPL Commands</vt:lpstr>
      <vt:lpstr>The Initial Search (Before the First Pipe)</vt:lpstr>
      <vt:lpstr>Core SPL Commands</vt:lpstr>
      <vt:lpstr>Splunk Knowledge Objects</vt:lpstr>
      <vt:lpstr>Knowledge Objects</vt:lpstr>
      <vt:lpstr>Primary Types Of Knowledge Objects</vt:lpstr>
      <vt:lpstr>Reports, Alerts, and Dashboards in Splunk</vt:lpstr>
      <vt:lpstr>Reports</vt:lpstr>
      <vt:lpstr>Alerts</vt:lpstr>
      <vt:lpstr>Dashboards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Jasdhir Singh</dc:creator>
  <cp:lastModifiedBy>Jasdhir Singh</cp:lastModifiedBy>
  <cp:revision>95</cp:revision>
  <dcterms:created xsi:type="dcterms:W3CDTF">2026-09-11T04:59:55Z</dcterms:created>
  <dcterms:modified xsi:type="dcterms:W3CDTF">2026-09-11T08:06:02Z</dcterms:modified>
</cp:coreProperties>
</file>